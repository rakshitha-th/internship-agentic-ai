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layfair Display Heavy" panose="020B0604020202020204" charset="0"/>
      <p:regular r:id="rId8"/>
    </p:embeddedFont>
    <p:embeddedFont>
      <p:font typeface="Raleway" pitchFamily="2" charset="0"/>
      <p:regular r:id="rId9"/>
    </p:embeddedFon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83244" flipH="1">
            <a:off x="-4759168" y="4375423"/>
            <a:ext cx="10358005" cy="10410055"/>
          </a:xfrm>
          <a:custGeom>
            <a:avLst/>
            <a:gdLst/>
            <a:ahLst/>
            <a:cxnLst/>
            <a:rect l="l" t="t" r="r" b="b"/>
            <a:pathLst>
              <a:path w="10358005" h="1041005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30741" y="-10904054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998830" y="8999755"/>
            <a:ext cx="416017" cy="418299"/>
          </a:xfrm>
          <a:custGeom>
            <a:avLst/>
            <a:gdLst/>
            <a:ahLst/>
            <a:cxnLst/>
            <a:rect l="l" t="t" r="r" b="b"/>
            <a:pathLst>
              <a:path w="416017" h="418299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2455026" y="-917369"/>
            <a:ext cx="4220884" cy="422088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00718" y="3889375"/>
            <a:ext cx="15358582" cy="267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r>
              <a:rPr lang="en-US" sz="9999" b="1">
                <a:solidFill>
                  <a:srgbClr val="FFFFFF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Introduction to Python</a:t>
            </a:r>
          </a:p>
          <a:p>
            <a:pPr algn="l">
              <a:lnSpc>
                <a:spcPts val="10399"/>
              </a:lnSpc>
              <a:spcBef>
                <a:spcPct val="0"/>
              </a:spcBef>
            </a:pPr>
            <a:endParaRPr lang="en-US" sz="9999" b="1">
              <a:solidFill>
                <a:srgbClr val="FFFFFF"/>
              </a:solidFill>
              <a:latin typeface="Playfair Display Heavy"/>
              <a:ea typeface="Playfair Display Heavy"/>
              <a:cs typeface="Playfair Display Heavy"/>
              <a:sym typeface="Playfair Display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309115" y="9072819"/>
            <a:ext cx="1716617" cy="3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882414" y="6088611"/>
            <a:ext cx="5809652" cy="580965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16728" y="-10934700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661483" y="2951751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9115" y="9063294"/>
            <a:ext cx="1716617" cy="2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6998830" y="8999755"/>
            <a:ext cx="416017" cy="418299"/>
          </a:xfrm>
          <a:custGeom>
            <a:avLst/>
            <a:gdLst/>
            <a:ahLst/>
            <a:cxnLst/>
            <a:rect l="l" t="t" r="r" b="b"/>
            <a:pathLst>
              <a:path w="416017" h="418299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3357" y="2774769"/>
            <a:ext cx="4311909" cy="4946362"/>
            <a:chOff x="0" y="0"/>
            <a:chExt cx="1135647" cy="13027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5647" cy="1302746"/>
            </a:xfrm>
            <a:custGeom>
              <a:avLst/>
              <a:gdLst/>
              <a:ahLst/>
              <a:cxnLst/>
              <a:rect l="l" t="t" r="r" b="b"/>
              <a:pathLst>
                <a:path w="1135647" h="1302746">
                  <a:moveTo>
                    <a:pt x="91569" y="0"/>
                  </a:moveTo>
                  <a:lnTo>
                    <a:pt x="1044078" y="0"/>
                  </a:lnTo>
                  <a:cubicBezTo>
                    <a:pt x="1094650" y="0"/>
                    <a:pt x="1135647" y="40997"/>
                    <a:pt x="1135647" y="91569"/>
                  </a:cubicBezTo>
                  <a:lnTo>
                    <a:pt x="1135647" y="1211176"/>
                  </a:lnTo>
                  <a:cubicBezTo>
                    <a:pt x="1135647" y="1261749"/>
                    <a:pt x="1094650" y="1302746"/>
                    <a:pt x="1044078" y="1302746"/>
                  </a:cubicBezTo>
                  <a:lnTo>
                    <a:pt x="91569" y="1302746"/>
                  </a:lnTo>
                  <a:cubicBezTo>
                    <a:pt x="40997" y="1302746"/>
                    <a:pt x="0" y="1261749"/>
                    <a:pt x="0" y="1211176"/>
                  </a:cubicBezTo>
                  <a:lnTo>
                    <a:pt x="0" y="91569"/>
                  </a:lnTo>
                  <a:cubicBezTo>
                    <a:pt x="0" y="40997"/>
                    <a:pt x="40997" y="0"/>
                    <a:pt x="9156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135647" cy="1274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29811" y="2774769"/>
            <a:ext cx="10285036" cy="5750548"/>
            <a:chOff x="0" y="0"/>
            <a:chExt cx="2708816" cy="15145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8816" cy="1514547"/>
            </a:xfrm>
            <a:custGeom>
              <a:avLst/>
              <a:gdLst/>
              <a:ahLst/>
              <a:cxnLst/>
              <a:rect l="l" t="t" r="r" b="b"/>
              <a:pathLst>
                <a:path w="2708816" h="1514547">
                  <a:moveTo>
                    <a:pt x="38390" y="0"/>
                  </a:moveTo>
                  <a:lnTo>
                    <a:pt x="2670427" y="0"/>
                  </a:lnTo>
                  <a:cubicBezTo>
                    <a:pt x="2680608" y="0"/>
                    <a:pt x="2690373" y="4045"/>
                    <a:pt x="2697572" y="11244"/>
                  </a:cubicBezTo>
                  <a:cubicBezTo>
                    <a:pt x="2704772" y="18443"/>
                    <a:pt x="2708816" y="28208"/>
                    <a:pt x="2708816" y="38390"/>
                  </a:cubicBezTo>
                  <a:lnTo>
                    <a:pt x="2708816" y="1476158"/>
                  </a:lnTo>
                  <a:cubicBezTo>
                    <a:pt x="2708816" y="1486340"/>
                    <a:pt x="2704772" y="1496104"/>
                    <a:pt x="2697572" y="1503303"/>
                  </a:cubicBezTo>
                  <a:cubicBezTo>
                    <a:pt x="2690373" y="1510503"/>
                    <a:pt x="2680608" y="1514547"/>
                    <a:pt x="2670427" y="1514547"/>
                  </a:cubicBezTo>
                  <a:lnTo>
                    <a:pt x="38390" y="1514547"/>
                  </a:lnTo>
                  <a:cubicBezTo>
                    <a:pt x="28208" y="1514547"/>
                    <a:pt x="18443" y="1510503"/>
                    <a:pt x="11244" y="1503303"/>
                  </a:cubicBezTo>
                  <a:cubicBezTo>
                    <a:pt x="4045" y="1496104"/>
                    <a:pt x="0" y="1486340"/>
                    <a:pt x="0" y="1476158"/>
                  </a:cubicBezTo>
                  <a:lnTo>
                    <a:pt x="0" y="38390"/>
                  </a:lnTo>
                  <a:cubicBezTo>
                    <a:pt x="0" y="28208"/>
                    <a:pt x="4045" y="18443"/>
                    <a:pt x="11244" y="11244"/>
                  </a:cubicBezTo>
                  <a:cubicBezTo>
                    <a:pt x="18443" y="4045"/>
                    <a:pt x="28208" y="0"/>
                    <a:pt x="3839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708816" cy="1495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700" lvl="1" indent="-323850" algn="l">
                <a:lnSpc>
                  <a:spcPts val="312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1989 — Guido van Rossum starts developing Python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312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1991 — Python 0.9.0, the first release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312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2000 — Python 2.0 adds garbage collection &amp; Unicode support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312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2008 — Python 3.0 redesigns the language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312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it is Called Python?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3120"/>
                </a:lnSpc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“Monty Python's Flying Circus”</a:t>
              </a:r>
            </a:p>
            <a:p>
              <a:pPr algn="l">
                <a:lnSpc>
                  <a:spcPts val="312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636183"/>
            <a:ext cx="6179439" cy="1409423"/>
            <a:chOff x="0" y="0"/>
            <a:chExt cx="1627507" cy="3712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7507" cy="371206"/>
            </a:xfrm>
            <a:custGeom>
              <a:avLst/>
              <a:gdLst/>
              <a:ahLst/>
              <a:cxnLst/>
              <a:rect l="l" t="t" r="r" b="b"/>
              <a:pathLst>
                <a:path w="1627507" h="371206">
                  <a:moveTo>
                    <a:pt x="1424307" y="0"/>
                  </a:moveTo>
                  <a:lnTo>
                    <a:pt x="0" y="0"/>
                  </a:lnTo>
                  <a:lnTo>
                    <a:pt x="0" y="371206"/>
                  </a:lnTo>
                  <a:lnTo>
                    <a:pt x="1424307" y="371206"/>
                  </a:lnTo>
                  <a:lnTo>
                    <a:pt x="1627507" y="185603"/>
                  </a:lnTo>
                  <a:lnTo>
                    <a:pt x="1424307" y="0"/>
                  </a:lnTo>
                  <a:close/>
                </a:path>
              </a:pathLst>
            </a:custGeom>
            <a:solidFill>
              <a:srgbClr val="C6269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513207" cy="342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65731" y="739100"/>
            <a:ext cx="7801693" cy="1352032"/>
            <a:chOff x="0" y="0"/>
            <a:chExt cx="3769837" cy="6533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69837" cy="653312"/>
            </a:xfrm>
            <a:custGeom>
              <a:avLst/>
              <a:gdLst/>
              <a:ahLst/>
              <a:cxnLst/>
              <a:rect l="l" t="t" r="r" b="b"/>
              <a:pathLst>
                <a:path w="3769837" h="653312">
                  <a:moveTo>
                    <a:pt x="3566637" y="0"/>
                  </a:moveTo>
                  <a:lnTo>
                    <a:pt x="0" y="0"/>
                  </a:lnTo>
                  <a:lnTo>
                    <a:pt x="0" y="653312"/>
                  </a:lnTo>
                  <a:lnTo>
                    <a:pt x="3566637" y="653312"/>
                  </a:lnTo>
                  <a:lnTo>
                    <a:pt x="3769837" y="326656"/>
                  </a:lnTo>
                  <a:lnTo>
                    <a:pt x="3566637" y="0"/>
                  </a:lnTo>
                  <a:close/>
                </a:path>
              </a:pathLst>
            </a:custGeom>
            <a:solidFill>
              <a:srgbClr val="C626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3655537" cy="62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35528" y="1035368"/>
            <a:ext cx="10229869" cy="14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499" b="1" dirty="0">
                <a:solidFill>
                  <a:srgbClr val="FFFFFA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Features </a:t>
            </a:r>
          </a:p>
          <a:p>
            <a:pPr algn="l">
              <a:lnSpc>
                <a:spcPts val="5719"/>
              </a:lnSpc>
              <a:spcBef>
                <a:spcPct val="0"/>
              </a:spcBef>
            </a:pPr>
            <a:endParaRPr lang="en-US" sz="5499" b="1" dirty="0">
              <a:solidFill>
                <a:srgbClr val="FFFFFA"/>
              </a:solidFill>
              <a:latin typeface="Playfair Display Heavy"/>
              <a:ea typeface="Playfair Display Heavy"/>
              <a:cs typeface="Playfair Display Heavy"/>
              <a:sym typeface="Playfair Display Heav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3100200"/>
            <a:ext cx="4697863" cy="511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Learn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Interpreted Language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&amp; Open Source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Portable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65731" y="997268"/>
            <a:ext cx="6489614" cy="79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History of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103299" y="383341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59675" y="-12354245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H="1" flipV="1">
            <a:off x="10314353" y="1011"/>
            <a:ext cx="162281" cy="1028598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309115" y="9063294"/>
            <a:ext cx="1716617" cy="2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787240" y="3132406"/>
            <a:ext cx="4181174" cy="418117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-214463"/>
            <a:ext cx="3540043" cy="1860229"/>
            <a:chOff x="0" y="0"/>
            <a:chExt cx="1546771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46771" cy="812800"/>
            </a:xfrm>
            <a:custGeom>
              <a:avLst/>
              <a:gdLst/>
              <a:ahLst/>
              <a:cxnLst/>
              <a:rect l="l" t="t" r="r" b="b"/>
              <a:pathLst>
                <a:path w="1546771" h="812800">
                  <a:moveTo>
                    <a:pt x="1546771" y="406400"/>
                  </a:moveTo>
                  <a:lnTo>
                    <a:pt x="1140371" y="0"/>
                  </a:lnTo>
                  <a:lnTo>
                    <a:pt x="114037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40371" y="609600"/>
                  </a:lnTo>
                  <a:lnTo>
                    <a:pt x="1140371" y="812800"/>
                  </a:lnTo>
                  <a:lnTo>
                    <a:pt x="1546771" y="406400"/>
                  </a:lnTo>
                  <a:close/>
                </a:path>
              </a:pathLst>
            </a:custGeom>
            <a:solidFill>
              <a:srgbClr val="C626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31775"/>
              <a:ext cx="1445171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77635" y="2482019"/>
            <a:ext cx="5495314" cy="1728509"/>
            <a:chOff x="0" y="0"/>
            <a:chExt cx="258407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4072" cy="812800"/>
            </a:xfrm>
            <a:custGeom>
              <a:avLst/>
              <a:gdLst/>
              <a:ahLst/>
              <a:cxnLst/>
              <a:rect l="l" t="t" r="r" b="b"/>
              <a:pathLst>
                <a:path w="2584072" h="812800">
                  <a:moveTo>
                    <a:pt x="2584072" y="406400"/>
                  </a:moveTo>
                  <a:lnTo>
                    <a:pt x="2177672" y="0"/>
                  </a:lnTo>
                  <a:lnTo>
                    <a:pt x="217767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177672" y="609600"/>
                  </a:lnTo>
                  <a:lnTo>
                    <a:pt x="2177672" y="812800"/>
                  </a:lnTo>
                  <a:lnTo>
                    <a:pt x="2584072" y="406400"/>
                  </a:lnTo>
                  <a:close/>
                </a:path>
              </a:pathLst>
            </a:custGeom>
            <a:solidFill>
              <a:srgbClr val="C6269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231775"/>
              <a:ext cx="2482472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66519" y="1011"/>
            <a:ext cx="8311308" cy="2262212"/>
            <a:chOff x="0" y="0"/>
            <a:chExt cx="2986206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86206" cy="812800"/>
            </a:xfrm>
            <a:custGeom>
              <a:avLst/>
              <a:gdLst/>
              <a:ahLst/>
              <a:cxnLst/>
              <a:rect l="l" t="t" r="r" b="b"/>
              <a:pathLst>
                <a:path w="2986206" h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2986206" y="203200"/>
                  </a:lnTo>
                  <a:lnTo>
                    <a:pt x="2986206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C6269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231775"/>
              <a:ext cx="2884606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6473" y="5472800"/>
            <a:ext cx="5048612" cy="4576674"/>
            <a:chOff x="0" y="0"/>
            <a:chExt cx="1329676" cy="12053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29676" cy="1205379"/>
            </a:xfrm>
            <a:custGeom>
              <a:avLst/>
              <a:gdLst/>
              <a:ahLst/>
              <a:cxnLst/>
              <a:rect l="l" t="t" r="r" b="b"/>
              <a:pathLst>
                <a:path w="1329676" h="1205379">
                  <a:moveTo>
                    <a:pt x="78207" y="0"/>
                  </a:moveTo>
                  <a:lnTo>
                    <a:pt x="1251468" y="0"/>
                  </a:lnTo>
                  <a:cubicBezTo>
                    <a:pt x="1272210" y="0"/>
                    <a:pt x="1292103" y="8240"/>
                    <a:pt x="1306769" y="22906"/>
                  </a:cubicBezTo>
                  <a:cubicBezTo>
                    <a:pt x="1321436" y="37573"/>
                    <a:pt x="1329676" y="57465"/>
                    <a:pt x="1329676" y="78207"/>
                  </a:cubicBezTo>
                  <a:lnTo>
                    <a:pt x="1329676" y="1127172"/>
                  </a:lnTo>
                  <a:cubicBezTo>
                    <a:pt x="1329676" y="1147914"/>
                    <a:pt x="1321436" y="1167806"/>
                    <a:pt x="1306769" y="1182473"/>
                  </a:cubicBezTo>
                  <a:cubicBezTo>
                    <a:pt x="1292103" y="1197140"/>
                    <a:pt x="1272210" y="1205379"/>
                    <a:pt x="1251468" y="1205379"/>
                  </a:cubicBezTo>
                  <a:lnTo>
                    <a:pt x="78207" y="1205379"/>
                  </a:lnTo>
                  <a:cubicBezTo>
                    <a:pt x="57465" y="1205379"/>
                    <a:pt x="37573" y="1197140"/>
                    <a:pt x="22906" y="1182473"/>
                  </a:cubicBezTo>
                  <a:cubicBezTo>
                    <a:pt x="8240" y="1167806"/>
                    <a:pt x="0" y="1147914"/>
                    <a:pt x="0" y="1127172"/>
                  </a:cubicBezTo>
                  <a:lnTo>
                    <a:pt x="0" y="78207"/>
                  </a:lnTo>
                  <a:cubicBezTo>
                    <a:pt x="0" y="57465"/>
                    <a:pt x="8240" y="37573"/>
                    <a:pt x="22906" y="22906"/>
                  </a:cubicBezTo>
                  <a:cubicBezTo>
                    <a:pt x="37573" y="8240"/>
                    <a:pt x="57465" y="0"/>
                    <a:pt x="782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1329676" cy="1176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56232" y="3346273"/>
            <a:ext cx="4391339" cy="6251038"/>
            <a:chOff x="0" y="0"/>
            <a:chExt cx="1156567" cy="16463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56567" cy="1646364"/>
            </a:xfrm>
            <a:custGeom>
              <a:avLst/>
              <a:gdLst/>
              <a:ahLst/>
              <a:cxnLst/>
              <a:rect l="l" t="t" r="r" b="b"/>
              <a:pathLst>
                <a:path w="1156567" h="1646364">
                  <a:moveTo>
                    <a:pt x="89913" y="0"/>
                  </a:moveTo>
                  <a:lnTo>
                    <a:pt x="1066654" y="0"/>
                  </a:lnTo>
                  <a:cubicBezTo>
                    <a:pt x="1116311" y="0"/>
                    <a:pt x="1156567" y="40255"/>
                    <a:pt x="1156567" y="89913"/>
                  </a:cubicBezTo>
                  <a:lnTo>
                    <a:pt x="1156567" y="1556451"/>
                  </a:lnTo>
                  <a:cubicBezTo>
                    <a:pt x="1156567" y="1580297"/>
                    <a:pt x="1147094" y="1603167"/>
                    <a:pt x="1130232" y="1620029"/>
                  </a:cubicBezTo>
                  <a:cubicBezTo>
                    <a:pt x="1113370" y="1636891"/>
                    <a:pt x="1090500" y="1646364"/>
                    <a:pt x="1066654" y="1646364"/>
                  </a:cubicBezTo>
                  <a:lnTo>
                    <a:pt x="89913" y="1646364"/>
                  </a:lnTo>
                  <a:cubicBezTo>
                    <a:pt x="66067" y="1646364"/>
                    <a:pt x="43197" y="1636891"/>
                    <a:pt x="26335" y="1620029"/>
                  </a:cubicBezTo>
                  <a:cubicBezTo>
                    <a:pt x="9473" y="1603167"/>
                    <a:pt x="0" y="1580297"/>
                    <a:pt x="0" y="1556451"/>
                  </a:cubicBezTo>
                  <a:lnTo>
                    <a:pt x="0" y="89913"/>
                  </a:lnTo>
                  <a:cubicBezTo>
                    <a:pt x="0" y="66067"/>
                    <a:pt x="9473" y="43197"/>
                    <a:pt x="26335" y="26335"/>
                  </a:cubicBezTo>
                  <a:cubicBezTo>
                    <a:pt x="43197" y="9473"/>
                    <a:pt x="66067" y="0"/>
                    <a:pt x="899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1156567" cy="1617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86473" y="440535"/>
            <a:ext cx="10097224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1">
                <a:solidFill>
                  <a:srgbClr val="F2F1E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Variables 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3999" b="1">
              <a:solidFill>
                <a:srgbClr val="F2F1EB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-660758" y="1664815"/>
            <a:ext cx="10025985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variable is a name used to store data in a program.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6473" y="4268840"/>
            <a:ext cx="9911349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identifier is the name given to variables, functions,classes, or other objects in Python.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6473" y="5601819"/>
            <a:ext cx="3958704" cy="433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Identifiers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identifier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identifier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identifier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identifier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identifier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6473" y="2282273"/>
            <a:ext cx="3160633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= "Rakshitha"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83545" y="692576"/>
            <a:ext cx="557379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Operators in Python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75925" y="2714708"/>
            <a:ext cx="6688764" cy="6758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symbol that acts on one or more operands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</a:t>
            </a:r>
          </a:p>
          <a:p>
            <a:pPr algn="l">
              <a:lnSpc>
                <a:spcPts val="312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</a:p>
          <a:p>
            <a:pPr algn="l">
              <a:lnSpc>
                <a:spcPts val="312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</a:p>
          <a:p>
            <a:pPr algn="l">
              <a:lnSpc>
                <a:spcPts val="312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</a:t>
            </a:r>
          </a:p>
          <a:p>
            <a:pPr algn="l">
              <a:lnSpc>
                <a:spcPts val="312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Bitwise</a:t>
            </a:r>
          </a:p>
          <a:p>
            <a:pPr algn="l">
              <a:lnSpc>
                <a:spcPts val="312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Membership</a:t>
            </a:r>
          </a:p>
          <a:p>
            <a:pPr algn="l">
              <a:lnSpc>
                <a:spcPts val="312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86473" y="3081795"/>
            <a:ext cx="272519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47191" y="-1107704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769799" y="360481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9115" y="9063294"/>
            <a:ext cx="1716617" cy="2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6998830" y="8999755"/>
            <a:ext cx="416017" cy="418299"/>
          </a:xfrm>
          <a:custGeom>
            <a:avLst/>
            <a:gdLst/>
            <a:ahLst/>
            <a:cxnLst/>
            <a:rect l="l" t="t" r="r" b="b"/>
            <a:pathLst>
              <a:path w="416017" h="418299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2692011"/>
            <a:ext cx="6711974" cy="6818473"/>
            <a:chOff x="0" y="0"/>
            <a:chExt cx="1767763" cy="17958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7763" cy="1795812"/>
            </a:xfrm>
            <a:custGeom>
              <a:avLst/>
              <a:gdLst/>
              <a:ahLst/>
              <a:cxnLst/>
              <a:rect l="l" t="t" r="r" b="b"/>
              <a:pathLst>
                <a:path w="1767763" h="1795812">
                  <a:moveTo>
                    <a:pt x="58826" y="0"/>
                  </a:moveTo>
                  <a:lnTo>
                    <a:pt x="1708937" y="0"/>
                  </a:lnTo>
                  <a:cubicBezTo>
                    <a:pt x="1741426" y="0"/>
                    <a:pt x="1767763" y="26337"/>
                    <a:pt x="1767763" y="58826"/>
                  </a:cubicBezTo>
                  <a:lnTo>
                    <a:pt x="1767763" y="1736986"/>
                  </a:lnTo>
                  <a:cubicBezTo>
                    <a:pt x="1767763" y="1752588"/>
                    <a:pt x="1761565" y="1767550"/>
                    <a:pt x="1750533" y="1778582"/>
                  </a:cubicBezTo>
                  <a:cubicBezTo>
                    <a:pt x="1739501" y="1789614"/>
                    <a:pt x="1724539" y="1795812"/>
                    <a:pt x="1708937" y="1795812"/>
                  </a:cubicBezTo>
                  <a:lnTo>
                    <a:pt x="58826" y="1795812"/>
                  </a:lnTo>
                  <a:cubicBezTo>
                    <a:pt x="26337" y="1795812"/>
                    <a:pt x="0" y="1769475"/>
                    <a:pt x="0" y="1736986"/>
                  </a:cubicBezTo>
                  <a:lnTo>
                    <a:pt x="0" y="58826"/>
                  </a:lnTo>
                  <a:cubicBezTo>
                    <a:pt x="0" y="26337"/>
                    <a:pt x="26337" y="0"/>
                    <a:pt x="588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767763" cy="176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27817" y="2784442"/>
            <a:ext cx="7756143" cy="6633611"/>
            <a:chOff x="0" y="0"/>
            <a:chExt cx="2042770" cy="17471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2770" cy="1747124"/>
            </a:xfrm>
            <a:custGeom>
              <a:avLst/>
              <a:gdLst/>
              <a:ahLst/>
              <a:cxnLst/>
              <a:rect l="l" t="t" r="r" b="b"/>
              <a:pathLst>
                <a:path w="2042770" h="1747124">
                  <a:moveTo>
                    <a:pt x="50906" y="0"/>
                  </a:moveTo>
                  <a:lnTo>
                    <a:pt x="1991864" y="0"/>
                  </a:lnTo>
                  <a:cubicBezTo>
                    <a:pt x="2019978" y="0"/>
                    <a:pt x="2042770" y="22792"/>
                    <a:pt x="2042770" y="50906"/>
                  </a:cubicBezTo>
                  <a:lnTo>
                    <a:pt x="2042770" y="1696218"/>
                  </a:lnTo>
                  <a:cubicBezTo>
                    <a:pt x="2042770" y="1724332"/>
                    <a:pt x="2019978" y="1747124"/>
                    <a:pt x="1991864" y="1747124"/>
                  </a:cubicBezTo>
                  <a:lnTo>
                    <a:pt x="50906" y="1747124"/>
                  </a:lnTo>
                  <a:cubicBezTo>
                    <a:pt x="22792" y="1747124"/>
                    <a:pt x="0" y="1724332"/>
                    <a:pt x="0" y="1696218"/>
                  </a:cubicBezTo>
                  <a:lnTo>
                    <a:pt x="0" y="50906"/>
                  </a:lnTo>
                  <a:cubicBezTo>
                    <a:pt x="0" y="22792"/>
                    <a:pt x="22792" y="0"/>
                    <a:pt x="509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2042770" cy="1718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39017" y="1111910"/>
            <a:ext cx="9088799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FFFF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Memory Management</a:t>
            </a:r>
          </a:p>
          <a:p>
            <a:pPr algn="l">
              <a:lnSpc>
                <a:spcPts val="8400"/>
              </a:lnSpc>
            </a:pPr>
            <a:endParaRPr lang="en-US" sz="6000" b="1">
              <a:solidFill>
                <a:srgbClr val="FFFFF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49940" y="3195980"/>
            <a:ext cx="8072922" cy="683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Allocated and Deallocates the Memory Automatically.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Allocation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Memory Management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heap Memory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Count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Garbage Collection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4932" lvl="1" indent="-327466" algn="l">
              <a:lnSpc>
                <a:spcPts val="3154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Memeory Deallocation</a:t>
            </a: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54"/>
              </a:lnSpc>
            </a:pPr>
            <a:endParaRPr lang="en-US" sz="30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403007" y="3765232"/>
            <a:ext cx="8068016" cy="277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removes unused objects from memory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count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Cyclic Garbage Collection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9095" y="1321460"/>
            <a:ext cx="6327815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Garbage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26724" y="-82044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769799" y="360481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9115" y="9063294"/>
            <a:ext cx="1716617" cy="2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6998830" y="8999755"/>
            <a:ext cx="416017" cy="418299"/>
          </a:xfrm>
          <a:custGeom>
            <a:avLst/>
            <a:gdLst/>
            <a:ahLst/>
            <a:cxnLst/>
            <a:rect l="l" t="t" r="r" b="b"/>
            <a:pathLst>
              <a:path w="416017" h="418299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6193" y="6956159"/>
            <a:ext cx="9681516" cy="238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Lines ignored by the interpreter — explain the code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Single-line comments start with #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dedicated multi-line syntax — triple quotes are used instead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9785796" y="690"/>
            <a:ext cx="0" cy="1054186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36168" y="1659303"/>
            <a:ext cx="6846957" cy="3550677"/>
            <a:chOff x="0" y="0"/>
            <a:chExt cx="1803314" cy="9351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3314" cy="935158"/>
            </a:xfrm>
            <a:custGeom>
              <a:avLst/>
              <a:gdLst/>
              <a:ahLst/>
              <a:cxnLst/>
              <a:rect l="l" t="t" r="r" b="b"/>
              <a:pathLst>
                <a:path w="1803314" h="935158">
                  <a:moveTo>
                    <a:pt x="57666" y="0"/>
                  </a:moveTo>
                  <a:lnTo>
                    <a:pt x="1745648" y="0"/>
                  </a:lnTo>
                  <a:cubicBezTo>
                    <a:pt x="1760942" y="0"/>
                    <a:pt x="1775609" y="6076"/>
                    <a:pt x="1786424" y="16890"/>
                  </a:cubicBezTo>
                  <a:cubicBezTo>
                    <a:pt x="1797238" y="27705"/>
                    <a:pt x="1803314" y="42372"/>
                    <a:pt x="1803314" y="57666"/>
                  </a:cubicBezTo>
                  <a:lnTo>
                    <a:pt x="1803314" y="877491"/>
                  </a:lnTo>
                  <a:cubicBezTo>
                    <a:pt x="1803314" y="892786"/>
                    <a:pt x="1797238" y="907453"/>
                    <a:pt x="1786424" y="918268"/>
                  </a:cubicBezTo>
                  <a:cubicBezTo>
                    <a:pt x="1775609" y="929082"/>
                    <a:pt x="1760942" y="935158"/>
                    <a:pt x="1745648" y="935158"/>
                  </a:cubicBezTo>
                  <a:lnTo>
                    <a:pt x="57666" y="935158"/>
                  </a:lnTo>
                  <a:cubicBezTo>
                    <a:pt x="42372" y="935158"/>
                    <a:pt x="27705" y="929082"/>
                    <a:pt x="16890" y="918268"/>
                  </a:cubicBezTo>
                  <a:cubicBezTo>
                    <a:pt x="6076" y="907453"/>
                    <a:pt x="0" y="892786"/>
                    <a:pt x="0" y="877491"/>
                  </a:cubicBezTo>
                  <a:lnTo>
                    <a:pt x="0" y="57666"/>
                  </a:lnTo>
                  <a:cubicBezTo>
                    <a:pt x="0" y="42372"/>
                    <a:pt x="6076" y="27705"/>
                    <a:pt x="16890" y="16890"/>
                  </a:cubicBezTo>
                  <a:cubicBezTo>
                    <a:pt x="27705" y="6076"/>
                    <a:pt x="42372" y="0"/>
                    <a:pt x="57666" y="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803314" cy="906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72650" y="2904676"/>
            <a:ext cx="7284540" cy="4521509"/>
            <a:chOff x="0" y="0"/>
            <a:chExt cx="1918562" cy="11908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8562" cy="1190850"/>
            </a:xfrm>
            <a:custGeom>
              <a:avLst/>
              <a:gdLst/>
              <a:ahLst/>
              <a:cxnLst/>
              <a:rect l="l" t="t" r="r" b="b"/>
              <a:pathLst>
                <a:path w="1918562" h="1190850">
                  <a:moveTo>
                    <a:pt x="54202" y="0"/>
                  </a:moveTo>
                  <a:lnTo>
                    <a:pt x="1864360" y="0"/>
                  </a:lnTo>
                  <a:cubicBezTo>
                    <a:pt x="1894295" y="0"/>
                    <a:pt x="1918562" y="24267"/>
                    <a:pt x="1918562" y="54202"/>
                  </a:cubicBezTo>
                  <a:lnTo>
                    <a:pt x="1918562" y="1136648"/>
                  </a:lnTo>
                  <a:cubicBezTo>
                    <a:pt x="1918562" y="1151023"/>
                    <a:pt x="1912851" y="1164810"/>
                    <a:pt x="1902687" y="1174975"/>
                  </a:cubicBezTo>
                  <a:cubicBezTo>
                    <a:pt x="1892522" y="1185140"/>
                    <a:pt x="1878735" y="1190850"/>
                    <a:pt x="1864360" y="1190850"/>
                  </a:cubicBezTo>
                  <a:lnTo>
                    <a:pt x="54202" y="1190850"/>
                  </a:lnTo>
                  <a:cubicBezTo>
                    <a:pt x="39827" y="1190850"/>
                    <a:pt x="26040" y="1185140"/>
                    <a:pt x="15875" y="1174975"/>
                  </a:cubicBezTo>
                  <a:cubicBezTo>
                    <a:pt x="5711" y="1164810"/>
                    <a:pt x="0" y="1151023"/>
                    <a:pt x="0" y="1136648"/>
                  </a:cubicBezTo>
                  <a:lnTo>
                    <a:pt x="0" y="54202"/>
                  </a:lnTo>
                  <a:cubicBezTo>
                    <a:pt x="0" y="39827"/>
                    <a:pt x="5711" y="26040"/>
                    <a:pt x="15875" y="15875"/>
                  </a:cubicBezTo>
                  <a:cubicBezTo>
                    <a:pt x="26040" y="5711"/>
                    <a:pt x="39827" y="0"/>
                    <a:pt x="54202" y="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918562" cy="1162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1869" y="519987"/>
            <a:ext cx="7910333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Translators &amp; Their Types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0265" y="2056374"/>
            <a:ext cx="8382795" cy="277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source code into machine code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Interpreter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Assembler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1870" y="5898179"/>
            <a:ext cx="5715119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Comments in Python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06268" y="1697403"/>
            <a:ext cx="6367820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Conditional Statements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06268" y="3354361"/>
            <a:ext cx="7881732" cy="472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Run code only when a condition is True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E14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20"/>
              </a:lnSpc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Types:</a:t>
            </a:r>
          </a:p>
          <a:p>
            <a:pPr algn="l">
              <a:lnSpc>
                <a:spcPts val="3120"/>
              </a:lnSpc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 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if-elif-else 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if </a:t>
            </a:r>
          </a:p>
          <a:p>
            <a:pPr marL="647700" lvl="1" indent="-323850" algn="l">
              <a:lnSpc>
                <a:spcPts val="3120"/>
              </a:lnSpc>
              <a:buFont typeface="Arial"/>
              <a:buChar char="•"/>
            </a:pPr>
            <a:r>
              <a:rPr lang="en-US" sz="3000">
                <a:solidFill>
                  <a:srgbClr val="0E14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ternary</a:t>
            </a: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E14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E14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20"/>
              </a:lnSpc>
            </a:pPr>
            <a:endParaRPr lang="en-US" sz="3000">
              <a:solidFill>
                <a:srgbClr val="0E14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49733" y="-972449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769799" y="3604817"/>
            <a:ext cx="17956749" cy="18046984"/>
          </a:xfrm>
          <a:custGeom>
            <a:avLst/>
            <a:gdLst/>
            <a:ahLst/>
            <a:cxnLst/>
            <a:rect l="l" t="t" r="r" b="b"/>
            <a:pathLst>
              <a:path w="17956749" h="18046984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9115" y="9063294"/>
            <a:ext cx="1716617" cy="2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6998830" y="8999755"/>
            <a:ext cx="416017" cy="418299"/>
          </a:xfrm>
          <a:custGeom>
            <a:avLst/>
            <a:gdLst/>
            <a:ahLst/>
            <a:cxnLst/>
            <a:rect l="l" t="t" r="r" b="b"/>
            <a:pathLst>
              <a:path w="416017" h="418299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38011" y="4018914"/>
            <a:ext cx="7474856" cy="112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  <a:spcBef>
                <a:spcPct val="0"/>
              </a:spcBef>
            </a:pPr>
            <a:r>
              <a:rPr lang="en-US" sz="8000" b="1">
                <a:solidFill>
                  <a:srgbClr val="C6269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7" name="AutoShape 7"/>
          <p:cNvSpPr/>
          <p:nvPr/>
        </p:nvSpPr>
        <p:spPr>
          <a:xfrm>
            <a:off x="4038011" y="5143500"/>
            <a:ext cx="51059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8" name="Group 8"/>
          <p:cNvGrpSpPr/>
          <p:nvPr/>
        </p:nvGrpSpPr>
        <p:grpSpPr>
          <a:xfrm>
            <a:off x="6300371" y="1415004"/>
            <a:ext cx="6708380" cy="67083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248</Words>
  <Application>Microsoft Office PowerPoint</Application>
  <PresentationFormat>Custom</PresentationFormat>
  <Paragraphs>113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Raleway</vt:lpstr>
      <vt:lpstr>Arial</vt:lpstr>
      <vt:lpstr>Playfair Display Heavy</vt:lpstr>
      <vt:lpstr>Times New Roman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cp:lastModifiedBy>Rakshitha N</cp:lastModifiedBy>
  <cp:revision>3</cp:revision>
  <dcterms:created xsi:type="dcterms:W3CDTF">2006-08-16T00:00:00Z</dcterms:created>
  <dcterms:modified xsi:type="dcterms:W3CDTF">2026-07-08T09:10:55Z</dcterms:modified>
  <dc:identifier>DAHOsDYQF8E</dc:identifier>
</cp:coreProperties>
</file>
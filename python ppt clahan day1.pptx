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ha N" userId="e6380f5756d557cb" providerId="LiveId" clId="{E84A2980-A805-4B82-A126-AEF847E22417}"/>
    <pc:docChg chg="modSld">
      <pc:chgData name="Rakshitha N" userId="e6380f5756d557cb" providerId="LiveId" clId="{E84A2980-A805-4B82-A126-AEF847E22417}" dt="2026-07-07T08:39:54.646" v="50" actId="13926"/>
      <pc:docMkLst>
        <pc:docMk/>
      </pc:docMkLst>
      <pc:sldChg chg="modSp mod">
        <pc:chgData name="Rakshitha N" userId="e6380f5756d557cb" providerId="LiveId" clId="{E84A2980-A805-4B82-A126-AEF847E22417}" dt="2026-07-07T08:39:54.646" v="50" actId="13926"/>
        <pc:sldMkLst>
          <pc:docMk/>
          <pc:sldMk cId="0" sldId="256"/>
        </pc:sldMkLst>
        <pc:spChg chg="mod">
          <ac:chgData name="Rakshitha N" userId="e6380f5756d557cb" providerId="LiveId" clId="{E84A2980-A805-4B82-A126-AEF847E22417}" dt="2026-07-07T08:39:54.646" v="50" actId="13926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54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FD43B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Python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722258"/>
            <a:ext cx="8686800" cy="621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Day 1- Fundamentals of Python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23636" y="3582786"/>
            <a:ext cx="6280728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323273"/>
            <a:ext cx="9601200" cy="1002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3278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68" y="1794236"/>
            <a:ext cx="389169" cy="3891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6002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Features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73862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68" y="2800076"/>
            <a:ext cx="389169" cy="389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606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History of Python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74446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68" y="3805916"/>
            <a:ext cx="389169" cy="3891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6118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&amp; Identifiers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48640" y="4617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31520" y="475030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68" y="4811756"/>
            <a:ext cx="389169" cy="3891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617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Operators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548640" y="5623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31520" y="575614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68" y="5817596"/>
            <a:ext cx="389169" cy="38916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5623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Memory &amp; Garbage Collection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6172200" y="1600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355080" y="173278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6528" y="1794236"/>
            <a:ext cx="389169" cy="38916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40880" y="16002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Translators</a:t>
            </a:r>
            <a:endParaRPr lang="en-US" sz="1450" dirty="0"/>
          </a:p>
        </p:txBody>
      </p:sp>
      <p:sp>
        <p:nvSpPr>
          <p:cNvPr id="31" name="Shape 22"/>
          <p:cNvSpPr/>
          <p:nvPr/>
        </p:nvSpPr>
        <p:spPr>
          <a:xfrm>
            <a:off x="6172200" y="2606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355080" y="273862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6528" y="2800076"/>
            <a:ext cx="389169" cy="389169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40880" y="2606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Comments &amp; Conditionals</a:t>
            </a:r>
            <a:endParaRPr lang="en-US" sz="1450" dirty="0"/>
          </a:p>
        </p:txBody>
      </p:sp>
      <p:sp>
        <p:nvSpPr>
          <p:cNvPr id="35" name="Shape 25"/>
          <p:cNvSpPr/>
          <p:nvPr/>
        </p:nvSpPr>
        <p:spPr>
          <a:xfrm>
            <a:off x="617220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355080" y="374446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6528" y="3805916"/>
            <a:ext cx="389169" cy="389169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40880" y="36118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Control Statements &amp; Loops</a:t>
            </a:r>
            <a:endParaRPr lang="en-US" sz="1450" dirty="0"/>
          </a:p>
        </p:txBody>
      </p:sp>
      <p:sp>
        <p:nvSpPr>
          <p:cNvPr id="39" name="Shape 28"/>
          <p:cNvSpPr/>
          <p:nvPr/>
        </p:nvSpPr>
        <p:spPr>
          <a:xfrm>
            <a:off x="6172200" y="4617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6355080" y="475030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28" y="4811756"/>
            <a:ext cx="389169" cy="389169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040880" y="4617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Lists, Strings &amp; Tuples</a:t>
            </a:r>
            <a:endParaRPr lang="en-US" sz="1450" dirty="0"/>
          </a:p>
        </p:txBody>
      </p:sp>
      <p:sp>
        <p:nvSpPr>
          <p:cNvPr id="43" name="Shape 31"/>
          <p:cNvSpPr/>
          <p:nvPr/>
        </p:nvSpPr>
        <p:spPr>
          <a:xfrm>
            <a:off x="6172200" y="5623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6355080" y="5756148"/>
            <a:ext cx="512064" cy="512064"/>
          </a:xfrm>
          <a:prstGeom prst="ellipse">
            <a:avLst/>
          </a:prstGeom>
          <a:solidFill>
            <a:srgbClr val="4B8BBE"/>
          </a:solidFill>
          <a:ln/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6528" y="5817596"/>
            <a:ext cx="389169" cy="389169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040880" y="5623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Recap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310896"/>
            <a:ext cx="960120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74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high-level, interpreted, and easy-to-learn programming language created by Guido van Rossum in 1991.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used across: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3924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264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8496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3068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178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7640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4636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368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Easy to Learn — simple, readable syntax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83680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Interpreted — runs line by line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58368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Free &amp; Open Source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58368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Portable — Windows, Linux, macOS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58368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Object-Oriented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583680" y="4800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CF3"/>
                </a:solidFill>
              </a:rPr>
              <a:t>Large Standard Library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Python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2651760"/>
            <a:ext cx="10332720" cy="0"/>
          </a:xfrm>
          <a:prstGeom prst="line">
            <a:avLst/>
          </a:prstGeom>
          <a:noFill/>
          <a:ln w="25400">
            <a:solidFill>
              <a:srgbClr val="3D56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" y="2551176"/>
            <a:ext cx="201168" cy="2011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6"/>
          <p:cNvSpPr/>
          <p:nvPr/>
        </p:nvSpPr>
        <p:spPr>
          <a:xfrm>
            <a:off x="-4572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-18288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 begins developing Python at CWI, Netherlands.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6996" y="2551176"/>
            <a:ext cx="201168" cy="2011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9"/>
          <p:cNvSpPr/>
          <p:nvPr/>
        </p:nvSpPr>
        <p:spPr>
          <a:xfrm>
            <a:off x="253746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40030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0.9.0 released — classes, functions, exceptions.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0176" y="2551176"/>
            <a:ext cx="201168" cy="2011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98348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2.0 released — garbage collection, Unicode.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63356" y="2551176"/>
            <a:ext cx="201168" cy="2011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5"/>
          <p:cNvSpPr/>
          <p:nvPr/>
        </p:nvSpPr>
        <p:spPr>
          <a:xfrm>
            <a:off x="770382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56666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3.0 introduced — improved efficiency.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1146536" y="2551176"/>
            <a:ext cx="201168" cy="2011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8"/>
          <p:cNvSpPr/>
          <p:nvPr/>
        </p:nvSpPr>
        <p:spPr>
          <a:xfrm>
            <a:off x="102870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149840" y="33375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popular languages worldwide.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691640" y="53492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256032"/>
            <a:ext cx="960120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Identifiers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used to store data. Its value can change during execution.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14400" y="256032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1E243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5603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"Rakshitha"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print(name)  # Rakshitha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Variables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Letters, numbers &amp; underscores allowed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Cannot start with a number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Case-sensitive (Age ≠ age)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675120" y="2240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given to variables, functions, classes, modules, or objects.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675120" y="292608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24466B"/>
          </a:solidFill>
          <a:ln/>
        </p:spPr>
      </p:sp>
      <p:sp>
        <p:nvSpPr>
          <p:cNvPr id="20" name="Text 17"/>
          <p:cNvSpPr/>
          <p:nvPr/>
        </p:nvSpPr>
        <p:spPr>
          <a:xfrm>
            <a:off x="6812280" y="2926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926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675120" y="3529584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24466B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35295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138160" y="35295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add(): ...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75120" y="4133088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24466B"/>
          </a:solidFill>
          <a:ln/>
        </p:spPr>
      </p:sp>
      <p:sp>
        <p:nvSpPr>
          <p:cNvPr id="26" name="Text 23"/>
          <p:cNvSpPr/>
          <p:nvPr/>
        </p:nvSpPr>
        <p:spPr>
          <a:xfrm>
            <a:off x="6812280" y="4133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138160" y="41330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 ...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75120" y="4736592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24466B"/>
          </a:solidFill>
          <a:ln/>
        </p:spPr>
      </p:sp>
      <p:sp>
        <p:nvSpPr>
          <p:cNvPr id="29" name="Text 26"/>
          <p:cNvSpPr/>
          <p:nvPr/>
        </p:nvSpPr>
        <p:spPr>
          <a:xfrm>
            <a:off x="6812280" y="47365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138160" y="47365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75120" y="5340096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24466B"/>
          </a:solidFill>
          <a:ln/>
        </p:spPr>
      </p:sp>
      <p:sp>
        <p:nvSpPr>
          <p:cNvPr id="32" name="Text 29"/>
          <p:cNvSpPr/>
          <p:nvPr/>
        </p:nvSpPr>
        <p:spPr>
          <a:xfrm>
            <a:off x="6812280" y="53400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138160" y="53400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in Python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performs an operation on one or more values (operands). Python has 7 main types.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21305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60604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//  %  **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64992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9584" y="21305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29584" y="260604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81344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45936" y="21305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45936" y="260604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97696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62288" y="21305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62288" y="260604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or   not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547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13232" y="371246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3232" y="418795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|  ^  ~  &lt;&lt;  &gt;&gt;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364992" y="3547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529584" y="371246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529584" y="418795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,   not in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81344" y="3547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45936" y="371246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45936" y="4187952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,   is not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162288" y="371246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b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162288" y="4142232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304800"/>
            <a:ext cx="9601200" cy="1021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Garbage Collection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allocates memory when a variable is created, and frees it when no longer needed.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0632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0632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 # allocated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20   # old value freed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slightly slower than C/C++; uses extra memory for the manager.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Collection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removes unused objects so memory can be reused.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Lifecycle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75120" y="2286000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22860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052560" y="2761488"/>
            <a:ext cx="0" cy="128016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2889504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288950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Objects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052560" y="3364992"/>
            <a:ext cx="0" cy="128016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75120" y="3493008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349300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Used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052560" y="3968496"/>
            <a:ext cx="0" cy="128016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75120" y="4096512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409651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Become Unused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052560" y="4572000"/>
            <a:ext cx="0" cy="128016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75120" y="4700016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0" y="470001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Removes Them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52560" y="5175504"/>
            <a:ext cx="0" cy="128016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75120" y="5303520"/>
            <a:ext cx="4754880" cy="475488"/>
          </a:xfrm>
          <a:prstGeom prst="roundRect">
            <a:avLst>
              <a:gd name="adj" fmla="val 9615"/>
            </a:avLst>
          </a:prstGeom>
          <a:solidFill>
            <a:srgbClr val="24466B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0" y="53035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Becomes Free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Translators &amp; Their Types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translator converts source code into machine code. There are three types: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6791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entire program at once, before execution.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35661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1B2A4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C, C++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16552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306998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45152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 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45152" y="26791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&amp; executes one line at a time.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45152" y="35661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24466B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uses this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84464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13064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513064" y="26791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assembly language into machine code.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513064" y="35661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1B2A41"/>
          </a:solidFill>
          <a:ln/>
        </p:spPr>
      </p:sp>
      <p:sp>
        <p:nvSpPr>
          <p:cNvPr id="22" name="Text 19"/>
          <p:cNvSpPr/>
          <p:nvPr/>
        </p:nvSpPr>
        <p:spPr>
          <a:xfrm>
            <a:off x="8604504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A,B → 101010100110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&amp; Conditional Statements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by the interpreter — used to explain code.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65176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1E243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743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single-line comment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 multi-line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 """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Statements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different code blocks depending on True/False conditions.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4800600"/>
            <a:ext cx="4663440" cy="1143000"/>
          </a:xfrm>
          <a:prstGeom prst="roundRect">
            <a:avLst>
              <a:gd name="adj" fmla="val 4800"/>
            </a:avLst>
          </a:prstGeom>
          <a:solidFill>
            <a:srgbClr val="1E243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8920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35: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print("Pass")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print("Fail")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Conditionals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0" y="22860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466B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7532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only when condition is True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83680" y="29443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466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2944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if-else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275320" y="29443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if True, another if False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0" y="360273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466B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360273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if-elif-else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275320" y="36027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multiple conditions in order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0" y="4261104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466B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426110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if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75320" y="42611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inside another if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0" y="491947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4466B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9194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Ternary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275320" y="49194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value_if_true if cond else value_if_false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210312"/>
            <a:ext cx="9601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 &amp; Loops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28600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0699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2860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23160" y="22860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loop immediately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285292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06998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8529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423160" y="28529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 next iteration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341985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06998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4198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1985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 (placeholder)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411480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1E2430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224528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6: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2 3 4 5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75120" y="26334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a sequence (list, tuple, string, range).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310896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24466B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31089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751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75120" y="4325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while a condition stays True.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75120" y="470916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24466B"/>
          </a:solidFill>
          <a:ln/>
        </p:spPr>
      </p:sp>
      <p:sp>
        <p:nvSpPr>
          <p:cNvPr id="29" name="Text 26"/>
          <p:cNvSpPr/>
          <p:nvPr/>
        </p:nvSpPr>
        <p:spPr>
          <a:xfrm>
            <a:off x="6812280" y="4709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5: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313765"/>
            <a:ext cx="9601200" cy="1012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Strings &amp; Tuples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2024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306998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920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2024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606040"/>
            <a:ext cx="315468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606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383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Ordered &amp; mutable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Allows duplicates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4480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append(), sort(), pop()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B2A41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45152" y="192024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1B2A41"/>
          </a:solidFill>
          <a:ln/>
        </p:spPr>
      </p:sp>
      <p:sp>
        <p:nvSpPr>
          <p:cNvPr id="18" name="Text 15"/>
          <p:cNvSpPr/>
          <p:nvPr/>
        </p:nvSpPr>
        <p:spPr>
          <a:xfrm>
            <a:off x="4645152" y="1920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88152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645152" y="2606040"/>
            <a:ext cx="315468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/>
        </p:spPr>
      </p:sp>
      <p:sp>
        <p:nvSpPr>
          <p:cNvPr id="21" name="Text 18"/>
          <p:cNvSpPr/>
          <p:nvPr/>
        </p:nvSpPr>
        <p:spPr>
          <a:xfrm>
            <a:off x="4736592" y="2606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"Python"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45152" y="3383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Ordered but immutable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645152" y="3931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Supports slicing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645152" y="4480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upper(), split(), replace()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513064" y="192024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4B8BBE"/>
          </a:solidFill>
          <a:ln/>
        </p:spPr>
      </p:sp>
      <p:sp>
        <p:nvSpPr>
          <p:cNvPr id="27" name="Text 24"/>
          <p:cNvSpPr/>
          <p:nvPr/>
        </p:nvSpPr>
        <p:spPr>
          <a:xfrm>
            <a:off x="8513064" y="1920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656064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513064" y="2606040"/>
            <a:ext cx="315468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/>
        </p:spPr>
      </p:sp>
      <p:sp>
        <p:nvSpPr>
          <p:cNvPr id="30" name="Text 27"/>
          <p:cNvSpPr/>
          <p:nvPr/>
        </p:nvSpPr>
        <p:spPr>
          <a:xfrm>
            <a:off x="8604504" y="26060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(10, 20)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13064" y="3383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Ordered &amp; immutable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513064" y="3931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Faster than lists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513064" y="4480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</a:rPr>
              <a:t>count(), index()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FFD43B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82472" y="1145309"/>
            <a:ext cx="5884487" cy="4571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143000" y="2560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31272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6941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2611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5257800"/>
            <a:ext cx="1371600" cy="0"/>
          </a:xfrm>
          <a:prstGeom prst="line">
            <a:avLst/>
          </a:prstGeom>
          <a:noFill/>
          <a:ln w="25400">
            <a:solidFill>
              <a:srgbClr val="3D56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776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subject>PptxGenJS Presentation</dc:subject>
  <dc:creator>Python Notes</dc:creator>
  <cp:lastModifiedBy>Rakshitha N</cp:lastModifiedBy>
  <cp:revision>2</cp:revision>
  <dcterms:created xsi:type="dcterms:W3CDTF">2026-07-07T08:20:33Z</dcterms:created>
  <dcterms:modified xsi:type="dcterms:W3CDTF">2026-07-07T09:12:09Z</dcterms:modified>
</cp:coreProperties>
</file>